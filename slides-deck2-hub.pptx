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89120" y="1645920"/>
            <a:ext cx="3410712" cy="2560320"/>
          </a:xfrm>
          <a:prstGeom prst="rect">
            <a:avLst/>
          </a:prstGeom>
          <a:solidFill>
            <a:srgbClr val="FFFFFF"/>
          </a:solidFill>
          <a:ln w="38100">
            <a:solidFill>
              <a:srgbClr val="00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1737360"/>
            <a:ext cx="34107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00BFA5"/>
                </a:solidFill>
                <a:latin typeface="Courier New"/>
              </a:rPr>
              <a:t>{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834640"/>
            <a:ext cx="34107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FA5"/>
                </a:solidFill>
                <a:latin typeface="Calibri"/>
              </a:rPr>
              <a:t>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3291840"/>
            <a:ext cx="34107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0A4AE"/>
                </a:solidFill>
                <a:latin typeface="Calibri"/>
              </a:rPr>
              <a:t>STRUCTURED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720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374751"/>
                </a:solidFill>
                <a:latin typeface="Calibri Light"/>
              </a:rPr>
              <a:t>THE HUB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BFA5"/>
                </a:solidFill>
                <a:latin typeface="Calibri Light"/>
              </a:rPr>
              <a:t>JSON as the universal content hub between source and output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HUB &amp; SPOKE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4498848" y="2743200"/>
            <a:ext cx="2286000" cy="1371600"/>
          </a:xfrm>
          <a:prstGeom prst="rect">
            <a:avLst/>
          </a:prstGeom>
          <a:solidFill>
            <a:srgbClr val="0D2B45"/>
          </a:solidFill>
          <a:ln w="38100">
            <a:solidFill>
              <a:srgbClr val="00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98848" y="27432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ourier New"/>
              </a:rPr>
              <a:t>{ }  JSON
DATA 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1280160"/>
            <a:ext cx="2103120" cy="82296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28016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Spark
HTML Page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39" y="1664207"/>
            <a:ext cx="1161288" cy="54864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2816" y="149047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0A4AE"/>
                </a:solidFill>
                <a:latin typeface="Calibri"/>
              </a:rPr>
              <a:t>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91840"/>
            <a:ext cx="2103120" cy="8229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Horizon
HTML Page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0" y="3675887"/>
            <a:ext cx="1892808" cy="54864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42816" y="3502151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0A4AE"/>
                </a:solidFill>
                <a:latin typeface="Calibri"/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" y="5303520"/>
            <a:ext cx="2103120" cy="82296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53035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Real Life English
HTML Page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39" y="5687568"/>
            <a:ext cx="1161288" cy="54864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42816" y="551383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0A4AE"/>
                </a:solidFill>
                <a:latin typeface="Calibri"/>
              </a:rPr>
              <a:t>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" y="3017520"/>
            <a:ext cx="1005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0A4AE"/>
                </a:solidFill>
                <a:latin typeface="Calibri"/>
              </a:rPr>
              <a:t>SOURCE
FILES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95360" y="1280160"/>
            <a:ext cx="2560320" cy="82296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12801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🖥  Classroom
Presentation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30568" y="1664207"/>
            <a:ext cx="1719072" cy="54864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9328" y="149047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0A4AE"/>
                </a:solidFill>
                <a:latin typeface="Calibri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3291840"/>
            <a:ext cx="2560320" cy="8229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32918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📱  Student
Self-Study App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30568" y="3675887"/>
            <a:ext cx="2267712" cy="54864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87968" y="3502151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0A4AE"/>
                </a:solidFill>
                <a:latin typeface="Calibri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95360" y="5303520"/>
            <a:ext cx="2560320" cy="8229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0" y="53035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🖨  Printable
Worksheet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30568" y="5687568"/>
            <a:ext cx="1719072" cy="54864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9328" y="551383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0A4AE"/>
                </a:solidFill>
                <a:latin typeface="Calibri"/>
              </a:rPr>
              <a:t>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3017520"/>
            <a:ext cx="1051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0A4AE"/>
                </a:solidFill>
                <a:latin typeface="Calibri"/>
              </a:rPr>
              <a:t>RENDERED
OUTPUTS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76288" y="1645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1">
                <a:solidFill>
                  <a:srgbClr val="FF6D00"/>
                </a:solidFill>
                <a:latin typeface="Calibri"/>
              </a:rPr>
              <a:t>classroom.html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76288" y="3657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1">
                <a:solidFill>
                  <a:srgbClr val="FF6D00"/>
                </a:solidFill>
                <a:latin typeface="Calibri"/>
              </a:rPr>
              <a:t>app.html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76288" y="56692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1">
                <a:solidFill>
                  <a:srgbClr val="FF6D00"/>
                </a:solidFill>
                <a:latin typeface="Calibri"/>
              </a:rPr>
              <a:t>worksheet.html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989320"/>
            <a:ext cx="5212080" cy="621792"/>
          </a:xfrm>
          <a:prstGeom prst="rect">
            <a:avLst/>
          </a:prstGeom>
          <a:solidFill>
            <a:srgbClr val="E0F7FA"/>
          </a:solidFill>
          <a:ln w="19050">
            <a:solidFill>
              <a:srgbClr val="00B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6016752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2B45"/>
                </a:solidFill>
                <a:latin typeface="Calibri"/>
              </a:rPr>
              <a:t>↔  Any source file works with any rendering engine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0" y="5989320"/>
            <a:ext cx="5212080" cy="621792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20" y="6016752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5E20"/>
                </a:solidFill>
                <a:latin typeface="Calibri"/>
              </a:rPr>
              <a:t>↔  Any rendering engine works with any source file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WHY THIS MATTERS — FLEXIBILITY AT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74751"/>
                </a:solidFill>
                <a:latin typeface="Calibri"/>
              </a:rPr>
              <a:t>Add a new course?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FA5"/>
                </a:solidFill>
                <a:latin typeface="Calibri"/>
              </a:rPr>
              <a:t>It works with ALL existing renderers immediately.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1508760" cy="82296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1508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Grammar Galaxy
(A2 primary)</a:t>
            </a:r>
          </a:p>
        </p:txBody>
      </p:sp>
      <p:sp>
        <p:nvSpPr>
          <p:cNvPr id="9" name="Rectangle 8"/>
          <p:cNvSpPr/>
          <p:nvPr/>
        </p:nvSpPr>
        <p:spPr>
          <a:xfrm>
            <a:off x="2148840" y="1783080"/>
            <a:ext cx="1508760" cy="8229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48840" y="1783080"/>
            <a:ext cx="1508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Business Edge
(B2 adults)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1783080"/>
            <a:ext cx="1508760" cy="82296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1783080"/>
            <a:ext cx="1508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Speak Up!
(C1 teens)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0" y="1920240"/>
            <a:ext cx="914400" cy="50292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21808" y="1938528"/>
            <a:ext cx="8778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FA5"/>
                </a:solidFill>
                <a:latin typeface="Calibri"/>
              </a:rPr>
              <a:t>→ JSON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1783080"/>
            <a:ext cx="1508760" cy="82296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783080"/>
            <a:ext cx="1508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classroom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783080"/>
            <a:ext cx="1508760" cy="8229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783080"/>
            <a:ext cx="1508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app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66959" y="1783080"/>
            <a:ext cx="1508760" cy="8229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9" y="1783080"/>
            <a:ext cx="1508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worksheet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7889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✓  3 new courses × 3 engines = 9 new products — zero new renderer code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291840"/>
            <a:ext cx="11274552" cy="36576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474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74751"/>
                </a:solidFill>
                <a:latin typeface="Calibri"/>
              </a:rPr>
              <a:t>Add a new output format?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8862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6D00"/>
                </a:solidFill>
                <a:latin typeface="Calibri"/>
              </a:rPr>
              <a:t>It works with ALL existing courses immediately.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389120"/>
            <a:ext cx="1600200" cy="73152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38912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spark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0" y="4389120"/>
            <a:ext cx="1600200" cy="73152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86000" y="438912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horizon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0" y="4389120"/>
            <a:ext cx="1600200" cy="73152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0" y="438912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real-life-eng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4526280"/>
            <a:ext cx="914400" cy="4572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44768" y="4507992"/>
            <a:ext cx="8778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6D00"/>
                </a:solidFill>
                <a:latin typeface="Calibri"/>
              </a:rPr>
              <a:t>→ new
engine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0" y="4389120"/>
            <a:ext cx="1508760" cy="7315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0" y="4389120"/>
            <a:ext cx="1508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Audio
Script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06840" y="4389120"/>
            <a:ext cx="1508760" cy="7315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6840" y="4389120"/>
            <a:ext cx="1508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SCORM
Module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698480" y="4389120"/>
            <a:ext cx="1508760" cy="73152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698480" y="4389120"/>
            <a:ext cx="1508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Video
Storyboard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285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✓  3 existing courses × 1 new engine = 3 new products — zero new content authoring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897880"/>
            <a:ext cx="11457432" cy="713232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96188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The JSON data layer is the key — write content once, render it everywhere.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