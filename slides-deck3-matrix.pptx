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2D1B00"/>
                </a:solidFill>
                <a:latin typeface="Georgia"/>
              </a:rPr>
              <a:t>CONTENT AT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77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37474F"/>
                </a:solidFill>
                <a:latin typeface="Georgia"/>
              </a:rPr>
              <a:t>The structured content model for modern ELT publishing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657600"/>
            <a:ext cx="3474720" cy="594360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65760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</a:rPr>
              <a:t>AUTHOR
ONCE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2976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4F"/>
                </a:solidFill>
                <a:latin typeface="Georgia"/>
              </a:rPr>
              <a:t>Write content in structured JSON.
No duplication.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5968" y="3657600"/>
            <a:ext cx="3474720" cy="59436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5968" y="365760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</a:rPr>
              <a:t>RENDER
ANYWHERE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42976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4F"/>
                </a:solidFill>
                <a:latin typeface="Georgia"/>
              </a:rPr>
              <a:t>Classroom · App · Worksheet.
From one source.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9016" y="3657600"/>
            <a:ext cx="3474720" cy="5943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9016" y="365760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</a:rPr>
              <a:t>SCALE
FASTER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9016" y="42976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4F"/>
                </a:solidFill>
                <a:latin typeface="Georgia"/>
              </a:rPr>
              <a:t>Add courses or outputs
independently.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922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CBBAA"/>
                </a:solidFill>
                <a:latin typeface="Georgia"/>
              </a:rPr>
              <a:t>THE MATRIX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D1B00"/>
                </a:solidFill>
                <a:latin typeface="Georgia"/>
              </a:rPr>
              <a:t>THE CONTENT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37474F"/>
                </a:solidFill>
                <a:latin typeface="Georgia"/>
              </a:rPr>
              <a:t>3 courses  ×  3 engines  =  9 products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143000"/>
            <a:ext cx="2423160" cy="86868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143000"/>
            <a:ext cx="2423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Georgia"/>
              </a:rPr>
              <a:t>🖥  Classroom
Presentation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989320" y="1143000"/>
            <a:ext cx="2423160" cy="8686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89320" y="1143000"/>
            <a:ext cx="2423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Georgia"/>
              </a:rPr>
              <a:t>📱  Student
Self-Study App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5360" y="1143000"/>
            <a:ext cx="2423160" cy="8686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1143000"/>
            <a:ext cx="2423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Georgia"/>
              </a:rPr>
              <a:t>🖨  Printable
Worksheet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103120"/>
            <a:ext cx="2926080" cy="10515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103120"/>
            <a:ext cx="2926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Georgia"/>
              </a:rPr>
              <a:t>✦ Spark!
A1 · Young Learners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429000"/>
            <a:ext cx="2926080" cy="105156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3429000"/>
            <a:ext cx="2926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Georgia"/>
              </a:rPr>
              <a:t>✦ Horizon
B1–B2 · Adults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754880"/>
            <a:ext cx="2926080" cy="10515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4754880"/>
            <a:ext cx="2926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Georgia"/>
              </a:rPr>
              <a:t>✦ Real Life English
Intermediate · US ESL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2103120"/>
            <a:ext cx="2423160" cy="1051560"/>
          </a:xfrm>
          <a:prstGeom prst="rect">
            <a:avLst/>
          </a:prstGeom>
          <a:solidFill>
            <a:srgbClr val="FFF3E0"/>
          </a:solidFill>
          <a:ln w="1524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29000" y="2148839"/>
            <a:ext cx="2331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1B00"/>
                </a:solidFill>
                <a:latin typeface="Georgia"/>
              </a:rPr>
              <a:t>Wild Animals
classroom slides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212140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8F00"/>
                </a:solidFill>
                <a:latin typeface="Georgia"/>
              </a:rPr>
              <a:t>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89320" y="2103120"/>
            <a:ext cx="2423160" cy="1051560"/>
          </a:xfrm>
          <a:prstGeom prst="rect">
            <a:avLst/>
          </a:prstGeom>
          <a:solidFill>
            <a:srgbClr val="E8EAF6"/>
          </a:solidFill>
          <a:ln w="1524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2148839"/>
            <a:ext cx="2331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1B00"/>
                </a:solidFill>
                <a:latin typeface="Georgia"/>
              </a:rPr>
              <a:t>Wild Animals
practice app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212140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37E"/>
                </a:solidFill>
                <a:latin typeface="Georgia"/>
              </a:rPr>
              <a:t>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95360" y="2103120"/>
            <a:ext cx="2423160" cy="1051560"/>
          </a:xfrm>
          <a:prstGeom prst="rect">
            <a:avLst/>
          </a:prstGeom>
          <a:solidFill>
            <a:srgbClr val="E8F5E9"/>
          </a:solidFill>
          <a:ln w="1524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41080" y="2148839"/>
            <a:ext cx="2331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1B00"/>
                </a:solidFill>
                <a:latin typeface="Georgia"/>
              </a:rPr>
              <a:t>Wild Animals
worksheet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212140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5E20"/>
                </a:solidFill>
                <a:latin typeface="Georgia"/>
              </a:rPr>
              <a:t>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83280" y="3429000"/>
            <a:ext cx="2423160" cy="1051560"/>
          </a:xfrm>
          <a:prstGeom prst="rect">
            <a:avLst/>
          </a:prstGeom>
          <a:solidFill>
            <a:srgbClr val="FFF3E0"/>
          </a:solidFill>
          <a:ln w="1524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29000" y="3474720"/>
            <a:ext cx="2331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1B00"/>
                </a:solidFill>
                <a:latin typeface="Georgia"/>
              </a:rPr>
              <a:t>Happiness Paradox
classroom slides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344728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8F00"/>
                </a:solidFill>
                <a:latin typeface="Georgia"/>
              </a:rPr>
              <a:t>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89320" y="3429000"/>
            <a:ext cx="2423160" cy="1051560"/>
          </a:xfrm>
          <a:prstGeom prst="rect">
            <a:avLst/>
          </a:prstGeom>
          <a:solidFill>
            <a:srgbClr val="E8EAF6"/>
          </a:solidFill>
          <a:ln w="1524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35040" y="3474720"/>
            <a:ext cx="2331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1B00"/>
                </a:solidFill>
                <a:latin typeface="Georgia"/>
              </a:rPr>
              <a:t>Happiness Paradox
practice app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344728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37E"/>
                </a:solidFill>
                <a:latin typeface="Georgia"/>
              </a:rPr>
              <a:t>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95360" y="3429000"/>
            <a:ext cx="2423160" cy="1051560"/>
          </a:xfrm>
          <a:prstGeom prst="rect">
            <a:avLst/>
          </a:prstGeom>
          <a:solidFill>
            <a:srgbClr val="E8F5E9"/>
          </a:solidFill>
          <a:ln w="1524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41080" y="3474720"/>
            <a:ext cx="2331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1B00"/>
                </a:solidFill>
                <a:latin typeface="Georgia"/>
              </a:rPr>
              <a:t>Happiness Paradox
worksheet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98480" y="344728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5E20"/>
                </a:solidFill>
                <a:latin typeface="Georgia"/>
              </a:rPr>
              <a:t>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83280" y="4754880"/>
            <a:ext cx="2423160" cy="1051560"/>
          </a:xfrm>
          <a:prstGeom prst="rect">
            <a:avLst/>
          </a:prstGeom>
          <a:solidFill>
            <a:srgbClr val="FFF3E0"/>
          </a:solidFill>
          <a:ln w="1524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29000" y="4800600"/>
            <a:ext cx="2331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1B00"/>
                </a:solidFill>
                <a:latin typeface="Georgia"/>
              </a:rPr>
              <a:t>Staying Healthy
classroom slides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477316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8F00"/>
                </a:solidFill>
                <a:latin typeface="Georgia"/>
              </a:rPr>
              <a:t>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89320" y="4754880"/>
            <a:ext cx="2423160" cy="1051560"/>
          </a:xfrm>
          <a:prstGeom prst="rect">
            <a:avLst/>
          </a:prstGeom>
          <a:solidFill>
            <a:srgbClr val="E8EAF6"/>
          </a:solidFill>
          <a:ln w="1524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35040" y="4800600"/>
            <a:ext cx="2331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1B00"/>
                </a:solidFill>
                <a:latin typeface="Georgia"/>
              </a:rPr>
              <a:t>Staying Healthy
practice app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92440" y="477316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37E"/>
                </a:solidFill>
                <a:latin typeface="Georgia"/>
              </a:rPr>
              <a:t>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95360" y="4754880"/>
            <a:ext cx="2423160" cy="1051560"/>
          </a:xfrm>
          <a:prstGeom prst="rect">
            <a:avLst/>
          </a:prstGeom>
          <a:solidFill>
            <a:srgbClr val="E8F5E9"/>
          </a:solidFill>
          <a:ln w="1524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41080" y="4800600"/>
            <a:ext cx="2331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1B00"/>
                </a:solidFill>
                <a:latin typeface="Georgia"/>
              </a:rPr>
              <a:t>Staying Healthy
worksheet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98480" y="477316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5E20"/>
                </a:solidFill>
                <a:latin typeface="Georgia"/>
              </a:rPr>
              <a:t>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5989320"/>
            <a:ext cx="11457432" cy="658368"/>
          </a:xfrm>
          <a:prstGeom prst="rect">
            <a:avLst/>
          </a:prstGeom>
          <a:solidFill>
            <a:srgbClr val="2D1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" y="6016752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8F00"/>
                </a:solidFill>
                <a:latin typeface="Georgia"/>
              </a:rPr>
              <a:t>3 source files  +  3 rendering engines  =  9 products  ·  maintained as 6 components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D1B00"/>
                </a:solidFill>
                <a:latin typeface="Georgia"/>
              </a:rPr>
              <a:t>THE AUTHORING SHIFT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37474F"/>
                </a:solidFill>
                <a:latin typeface="Georgia"/>
              </a:rPr>
              <a:t>From page-first to structure-first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5212080" cy="45720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161288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</a:rPr>
              <a:t>BEFORE — Page-first authoring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645920"/>
            <a:ext cx="5212080" cy="594360"/>
          </a:xfrm>
          <a:prstGeom prst="rect">
            <a:avLst/>
          </a:prstGeom>
          <a:solidFill>
            <a:srgbClr val="FBE9E7"/>
          </a:solidFill>
          <a:ln w="6350">
            <a:solidFill>
              <a:srgbClr val="BF3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1664208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BF360C"/>
                </a:solidFill>
                <a:latin typeface="Georg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82496"/>
            <a:ext cx="46817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1B00"/>
                </a:solidFill>
                <a:latin typeface="Georgia"/>
              </a:rPr>
              <a:t>Design a classroom presentation deck in PowerPoint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304288"/>
            <a:ext cx="5212080" cy="594360"/>
          </a:xfrm>
          <a:prstGeom prst="rect">
            <a:avLst/>
          </a:prstGeom>
          <a:solidFill>
            <a:srgbClr val="FBE9E7"/>
          </a:solidFill>
          <a:ln w="6350">
            <a:solidFill>
              <a:srgbClr val="BF3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2322576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BF360C"/>
                </a:solidFill>
                <a:latin typeface="Georg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340864"/>
            <a:ext cx="46817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1B00"/>
                </a:solidFill>
                <a:latin typeface="Georgia"/>
              </a:rPr>
              <a:t>Re-author same content into a student workbook (Word)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962656"/>
            <a:ext cx="5212080" cy="594360"/>
          </a:xfrm>
          <a:prstGeom prst="rect">
            <a:avLst/>
          </a:prstGeom>
          <a:solidFill>
            <a:srgbClr val="FBE9E7"/>
          </a:solidFill>
          <a:ln w="6350">
            <a:solidFill>
              <a:srgbClr val="BF3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" y="2980944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BF360C"/>
                </a:solidFill>
                <a:latin typeface="Georg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999232"/>
            <a:ext cx="46817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1B00"/>
                </a:solidFill>
                <a:latin typeface="Georgia"/>
              </a:rPr>
              <a:t>Re-author again into printable worksheets (InDesign)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621024"/>
            <a:ext cx="5212080" cy="594360"/>
          </a:xfrm>
          <a:prstGeom prst="rect">
            <a:avLst/>
          </a:prstGeom>
          <a:solidFill>
            <a:srgbClr val="FBE9E7"/>
          </a:solidFill>
          <a:ln w="6350">
            <a:solidFill>
              <a:srgbClr val="BF3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" y="3639312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BF360C"/>
                </a:solidFill>
                <a:latin typeface="Georgi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657600"/>
            <a:ext cx="46817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1B00"/>
                </a:solidFill>
                <a:latin typeface="Georgia"/>
              </a:rPr>
              <a:t>Repeat for every level, every unit, every course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279392"/>
            <a:ext cx="5212080" cy="594360"/>
          </a:xfrm>
          <a:prstGeom prst="rect">
            <a:avLst/>
          </a:prstGeom>
          <a:solidFill>
            <a:srgbClr val="FFCCBC"/>
          </a:solidFill>
          <a:ln w="6350">
            <a:solidFill>
              <a:srgbClr val="BF3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" y="429768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BF360C"/>
                </a:solidFill>
                <a:latin typeface="Georgia"/>
              </a:rPr>
              <a:t>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315968"/>
            <a:ext cx="46817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1B00"/>
                </a:solidFill>
                <a:latin typeface="Georgia"/>
              </a:rPr>
              <a:t>Any content change requires updates in 3+ separate files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1143000"/>
            <a:ext cx="5212080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1161288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</a:rPr>
              <a:t>AFTER — Structure-first authoring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1645920"/>
            <a:ext cx="5212080" cy="594360"/>
          </a:xfrm>
          <a:prstGeom prst="rect">
            <a:avLst/>
          </a:prstGeom>
          <a:solidFill>
            <a:srgbClr val="E8F5E9"/>
          </a:solidFill>
          <a:ln w="63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11112" y="1664208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5E20"/>
                </a:solidFill>
                <a:latin typeface="Georgia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1682496"/>
            <a:ext cx="46817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1B00"/>
                </a:solidFill>
                <a:latin typeface="Georgia"/>
              </a:rPr>
              <a:t>Author lesson content once as structured JSON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2304288"/>
            <a:ext cx="5212080" cy="594360"/>
          </a:xfrm>
          <a:prstGeom prst="rect">
            <a:avLst/>
          </a:prstGeom>
          <a:solidFill>
            <a:srgbClr val="E8F5E9"/>
          </a:solidFill>
          <a:ln w="63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11112" y="2322576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5E20"/>
                </a:solidFill>
                <a:latin typeface="Georgia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2340864"/>
            <a:ext cx="46817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1B00"/>
                </a:solidFill>
                <a:latin typeface="Georgia"/>
              </a:rPr>
              <a:t>Validate against the lesson schema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0" y="2962656"/>
            <a:ext cx="5212080" cy="594360"/>
          </a:xfrm>
          <a:prstGeom prst="rect">
            <a:avLst/>
          </a:prstGeom>
          <a:solidFill>
            <a:srgbClr val="E8F5E9"/>
          </a:solidFill>
          <a:ln w="63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11112" y="2980944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5E20"/>
                </a:solidFill>
                <a:latin typeface="Georgia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2999232"/>
            <a:ext cx="46817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1B00"/>
                </a:solidFill>
                <a:latin typeface="Georgia"/>
              </a:rPr>
              <a:t>Run through any renderer — classroom, app, worksheet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0" y="3621024"/>
            <a:ext cx="5212080" cy="594360"/>
          </a:xfrm>
          <a:prstGeom prst="rect">
            <a:avLst/>
          </a:prstGeom>
          <a:solidFill>
            <a:srgbClr val="E8F5E9"/>
          </a:solidFill>
          <a:ln w="63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11112" y="3639312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5E20"/>
                </a:solidFill>
                <a:latin typeface="Georgia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3657600"/>
            <a:ext cx="46817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1B00"/>
                </a:solidFill>
                <a:latin typeface="Georgia"/>
              </a:rPr>
              <a:t>Add courses → they work with all renderers instantly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0" y="4279392"/>
            <a:ext cx="5212080" cy="594360"/>
          </a:xfrm>
          <a:prstGeom prst="rect">
            <a:avLst/>
          </a:prstGeom>
          <a:solidFill>
            <a:srgbClr val="C8E6C9"/>
          </a:solidFill>
          <a:ln w="63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11112" y="429768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5E20"/>
                </a:solidFill>
                <a:latin typeface="Georgia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4315968"/>
            <a:ext cx="46817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1B00"/>
                </a:solidFill>
                <a:latin typeface="Georgia"/>
              </a:rPr>
              <a:t>Any content change propagates to ALL outputs automatically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60720" y="1143000"/>
            <a:ext cx="658368" cy="50292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60720" y="3337560"/>
            <a:ext cx="6583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8F00"/>
                </a:solidFill>
                <a:latin typeface="Georgia"/>
              </a:rPr>
              <a:t>VS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5943600"/>
            <a:ext cx="11457432" cy="713232"/>
          </a:xfrm>
          <a:prstGeom prst="rect">
            <a:avLst/>
          </a:prstGeom>
          <a:solidFill>
            <a:srgbClr val="2D1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5989320"/>
            <a:ext cx="11247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1">
                <a:solidFill>
                  <a:srgbClr val="FF8F00"/>
                </a:solidFill>
                <a:latin typeface="Georgia"/>
              </a:rPr>
              <a:t>"Author once. Structure deeply. Render everywhere."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