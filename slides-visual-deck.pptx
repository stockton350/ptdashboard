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0" y="45720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79408" y="475488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✦  SPARK!  ·  Wild Animals  ·  Unit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D2B45"/>
                </a:solidFill>
                <a:latin typeface="Calibri Light"/>
              </a:rPr>
              <a:t>From Printed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BFA5"/>
                </a:solidFill>
                <a:latin typeface="Calibri Light"/>
              </a:rPr>
              <a:t>to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7474F"/>
                </a:solidFill>
                <a:latin typeface="Calibri Light"/>
              </a:rPr>
              <a:t>How one structured lesson file renders into a classroom tool, a student app,
and a printable worksheet —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74920"/>
            <a:ext cx="3291840" cy="502920"/>
          </a:xfrm>
          <a:prstGeom prst="roundRect">
            <a:avLst>
              <a:gd name="adj" fmla="val 5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50932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Classroom 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5074920"/>
            <a:ext cx="3291840" cy="502920"/>
          </a:xfrm>
          <a:prstGeom prst="roundRect">
            <a:avLst>
              <a:gd name="adj" fmla="val 5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50932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Student Practice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5074920"/>
            <a:ext cx="3291840" cy="502920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50932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Worksheet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2BE"/>
                </a:solidFill>
                <a:latin typeface="Calibri Light"/>
              </a:rPr>
              <a:t>↓  One JSON file  ·  Three engines  ·  One lesson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ONE LESSON FILE · THREE RENDERED 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54864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566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🖥  CLASSROOM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54864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0248" y="566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📱  STUDENT PRACTICE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54864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566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🖨  WORKSHEET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960120"/>
            <a:ext cx="3657600" cy="2240280"/>
          </a:xfrm>
          <a:prstGeom prst="roundRect">
            <a:avLst>
              <a:gd name="adj" fmla="val 2000"/>
            </a:avLst>
          </a:prstGeom>
          <a:solidFill>
            <a:srgbClr val="3C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" y="1069848"/>
            <a:ext cx="3401568" cy="1938528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" y="1069848"/>
            <a:ext cx="3401568" cy="2926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088136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✦ SPARK!  ·  Unit 2, Lesson 1 — Wild Animals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" y="1362456"/>
            <a:ext cx="3401568" cy="201168"/>
          </a:xfrm>
          <a:prstGeom prst="rect">
            <a:avLst/>
          </a:prstGeom>
          <a:solidFill>
            <a:srgbClr val="0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380744"/>
            <a:ext cx="3337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1. Look and say the animal.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1600200"/>
            <a:ext cx="1042415" cy="621792"/>
          </a:xfrm>
          <a:prstGeom prst="roundRect">
            <a:avLst>
              <a:gd name="adj" fmla="val 3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1600200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1965960"/>
            <a:ext cx="1042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A5"/>
                </a:solidFill>
                <a:latin typeface="Calibri"/>
              </a:rPr>
              <a:t>lion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1600200"/>
            <a:ext cx="1042415" cy="621792"/>
          </a:xfrm>
          <a:prstGeom prst="roundRect">
            <a:avLst>
              <a:gd name="adj" fmla="val 3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1600200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965960"/>
            <a:ext cx="1042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A5"/>
                </a:solidFill>
                <a:latin typeface="Calibri"/>
              </a:rPr>
              <a:t>elephant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78608" y="1600200"/>
            <a:ext cx="1042415" cy="621792"/>
          </a:xfrm>
          <a:prstGeom prst="roundRect">
            <a:avLst>
              <a:gd name="adj" fmla="val 3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8608" y="1600200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1965960"/>
            <a:ext cx="1042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A5"/>
                </a:solidFill>
                <a:latin typeface="Calibri"/>
              </a:rPr>
              <a:t>giraffe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2286000"/>
            <a:ext cx="1042415" cy="621792"/>
          </a:xfrm>
          <a:prstGeom prst="roundRect">
            <a:avLst>
              <a:gd name="adj" fmla="val 3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286000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2651760"/>
            <a:ext cx="1042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A5"/>
                </a:solidFill>
                <a:latin typeface="Calibri"/>
              </a:rPr>
              <a:t>parrot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2286000"/>
            <a:ext cx="1042415" cy="621792"/>
          </a:xfrm>
          <a:prstGeom prst="roundRect">
            <a:avLst>
              <a:gd name="adj" fmla="val 3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286000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2651760"/>
            <a:ext cx="1042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A5"/>
                </a:solidFill>
                <a:latin typeface="Calibri"/>
              </a:rPr>
              <a:t>frog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78608" y="2286000"/>
            <a:ext cx="1042415" cy="621792"/>
          </a:xfrm>
          <a:prstGeom prst="roundRect">
            <a:avLst>
              <a:gd name="adj" fmla="val 3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78608" y="2286000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2651760"/>
            <a:ext cx="1042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A5"/>
                </a:solidFill>
                <a:latin typeface="Calibri"/>
              </a:rPr>
              <a:t>shark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3200400"/>
            <a:ext cx="3877056" cy="201168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" y="3401568"/>
            <a:ext cx="2011680" cy="109728"/>
          </a:xfrm>
          <a:prstGeom prst="rect">
            <a:avLst/>
          </a:prstGeom>
          <a:solidFill>
            <a:srgbClr val="A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230368" y="841248"/>
            <a:ext cx="1737360" cy="2834640"/>
          </a:xfrm>
          <a:prstGeom prst="roundRect">
            <a:avLst>
              <a:gd name="adj" fmla="val 6000"/>
            </a:avLst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70448" y="886968"/>
            <a:ext cx="457200" cy="128016"/>
          </a:xfrm>
          <a:prstGeom prst="roundRect">
            <a:avLst>
              <a:gd name="adj" fmla="val 4000"/>
            </a:avLst>
          </a:prstGeom>
          <a:solidFill>
            <a:srgbClr val="3C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21807" y="1024128"/>
            <a:ext cx="1554480" cy="2487168"/>
          </a:xfrm>
          <a:prstGeom prst="rect">
            <a:avLst/>
          </a:prstGeom>
          <a:solidFill>
            <a:srgbClr val="0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21807" y="1024128"/>
            <a:ext cx="1554480" cy="2743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1042415"/>
            <a:ext cx="14996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Spark!     ⭐ 16 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7" y="1298448"/>
            <a:ext cx="1554480" cy="914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21807" y="1298448"/>
            <a:ext cx="731520" cy="914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49240" y="1426464"/>
            <a:ext cx="1097280" cy="201168"/>
          </a:xfrm>
          <a:prstGeom prst="roundRect">
            <a:avLst>
              <a:gd name="adj" fmla="val 3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67528" y="1444752"/>
            <a:ext cx="10607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Activity 3  ·  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167335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What animal is this?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33288" y="19385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2395728"/>
            <a:ext cx="1499616" cy="347472"/>
          </a:xfrm>
          <a:prstGeom prst="rect">
            <a:avLst/>
          </a:prstGeom>
          <a:solidFill>
            <a:srgbClr val="003C37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5816" y="241401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A.  🦁  lion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2798064"/>
            <a:ext cx="1499616" cy="347472"/>
          </a:xfrm>
          <a:prstGeom prst="rect">
            <a:avLst/>
          </a:prstGeom>
          <a:solidFill>
            <a:srgbClr val="00BFA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85816" y="281635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B.  🦒  giraffe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3200400"/>
            <a:ext cx="1499616" cy="347472"/>
          </a:xfrm>
          <a:prstGeom prst="rect">
            <a:avLst/>
          </a:prstGeom>
          <a:solidFill>
            <a:srgbClr val="003C37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85816" y="321868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C.  🐘  elephant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3602736"/>
            <a:ext cx="1499616" cy="347472"/>
          </a:xfrm>
          <a:prstGeom prst="rect">
            <a:avLst/>
          </a:prstGeom>
          <a:solidFill>
            <a:srgbClr val="003C37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85816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D.  🦜  parrot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79007" y="3438144"/>
            <a:ext cx="640080" cy="64008"/>
          </a:xfrm>
          <a:prstGeom prst="roundRect">
            <a:avLst>
              <a:gd name="adj" fmla="val 5000"/>
            </a:avLst>
          </a:prstGeom>
          <a:solidFill>
            <a:srgbClr val="A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22207" y="978408"/>
            <a:ext cx="3383280" cy="265176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868680"/>
            <a:ext cx="33832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48288" y="868680"/>
            <a:ext cx="347472" cy="347472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48288" y="868680"/>
            <a:ext cx="347472" cy="347472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12480" y="868680"/>
            <a:ext cx="33832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85632" y="886968"/>
            <a:ext cx="3255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🌿 SPARK!  ·  Wild Animals  ·  Worksheet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2207" y="125272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C4148"/>
                </a:solidFill>
                <a:latin typeface="Calibri"/>
              </a:rPr>
              <a:t>Name: ____________________    Date: __________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19" y="1463040"/>
            <a:ext cx="3200400" cy="13716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12480" y="1481328"/>
            <a:ext cx="3383280" cy="228600"/>
          </a:xfrm>
          <a:prstGeom prst="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19" y="1499616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65C0"/>
                </a:solidFill>
                <a:latin typeface="Calibri"/>
              </a:rPr>
              <a:t>5.  Complete the sentences.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19" y="1737360"/>
            <a:ext cx="3172968" cy="256032"/>
          </a:xfrm>
          <a:prstGeom prst="rect">
            <a:avLst/>
          </a:prstGeom>
          <a:solidFill>
            <a:srgbClr val="F8FAFF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1764792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C4148"/>
                </a:solidFill>
                <a:latin typeface="Calibri"/>
              </a:rPr>
              <a:t>Word bank:   It's a   ·   It has   ·   They are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7" y="20391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C4148"/>
                </a:solidFill>
                <a:latin typeface="Calibri"/>
              </a:rPr>
              <a:t>1.  ____________ lion.  ____________ a mane.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7" y="24231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C4148"/>
                </a:solidFill>
                <a:latin typeface="Calibri"/>
              </a:rPr>
              <a:t>2.  ____________ elephant. ____________ big ears.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22207" y="280720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C4148"/>
                </a:solidFill>
                <a:latin typeface="Calibri"/>
              </a:rPr>
              <a:t>3.  ____________ parrot.  ____________ bright feathers.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22207" y="319125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C4148"/>
                </a:solidFill>
                <a:latin typeface="Calibri"/>
              </a:rPr>
              <a:t>4.  ____________ shark.  ____________ sharp teeth.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011680" y="3520440"/>
            <a:ext cx="0" cy="18288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847088" y="3502151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099048" y="3520440"/>
            <a:ext cx="0" cy="18288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34456" y="3502151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195560" y="3520440"/>
            <a:ext cx="0" cy="18288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030968" y="3502151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011680" y="3703320"/>
            <a:ext cx="8183880" cy="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099048" y="3703320"/>
            <a:ext cx="0" cy="118871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934456" y="3675887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60320" y="3822191"/>
            <a:ext cx="7068312" cy="1389888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88336" y="3913632"/>
            <a:ext cx="6812280" cy="1143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88336" y="3913632"/>
            <a:ext cx="2286000" cy="219456"/>
          </a:xfrm>
          <a:prstGeom prst="rect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24912" y="393192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FA5"/>
                </a:solidFill>
                <a:latin typeface="Courier New"/>
              </a:rPr>
              <a:t>{ }  spark-wild-animals.json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24912" y="4160520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A0FF"/>
                </a:solidFill>
                <a:latin typeface="Courier New"/>
              </a:rPr>
              <a:t>{ "id":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24912" y="4293107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9A84C"/>
                </a:solidFill>
                <a:latin typeface="Courier New"/>
              </a:rPr>
              <a:t>  "metadata": { "title": "Wild Animals", "cefr_level": "A1", "age_group": "young_learners" },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24912" y="4425696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A0FF"/>
                </a:solidFill>
                <a:latin typeface="Courier New"/>
              </a:rPr>
              <a:t>  "activities": [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24912" y="4558283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C107"/>
                </a:solidFill>
                <a:latin typeface="Courier New"/>
              </a:rPr>
              <a:t>    { "type": "vocabulary_presentation", "items": [{ "word": "lion", "emoji": "🦁" }, ...] },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24912" y="4690872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C107"/>
                </a:solidFill>
                <a:latin typeface="Courier New"/>
              </a:rPr>
              <a:t>    { "type": "fill_in_blank", "items": [{ "template": "It's a {{0}}.", ... }] 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24912" y="4823459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A0FF"/>
                </a:solidFill>
                <a:latin typeface="Courier New"/>
              </a:rPr>
              <a:t> 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24912" y="4956048"/>
            <a:ext cx="6675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A0FF"/>
                </a:solidFill>
                <a:latin typeface="Courier New"/>
              </a:rPr>
              <a:t>}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28632" y="4160520"/>
            <a:ext cx="64008" cy="320040"/>
          </a:xfrm>
          <a:prstGeom prst="rect">
            <a:avLst/>
          </a:prstGeom>
          <a:solidFill>
            <a:srgbClr val="A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31920" y="373075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2BE"/>
                </a:solidFill>
                <a:latin typeface="Calibri"/>
              </a:rPr>
              <a:t>PARSE  &amp;  STRUCTURE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500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2BE"/>
                </a:solidFill>
                <a:latin typeface="Calibri"/>
              </a:rPr>
              <a:t>RENDER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099048" y="5212080"/>
            <a:ext cx="0" cy="73152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011680" y="5285232"/>
            <a:ext cx="8183880" cy="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011680" y="5285232"/>
            <a:ext cx="0" cy="18288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847088" y="530352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099048" y="5285232"/>
            <a:ext cx="0" cy="18288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5934456" y="530352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195560" y="5285232"/>
            <a:ext cx="0" cy="182880"/>
          </a:xfrm>
          <a:prstGeom prst="line">
            <a:avLst/>
          </a:prstGeom>
          <a:ln w="19050">
            <a:solidFill>
              <a:srgbClr val="AA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0030968" y="530352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2BE"/>
                </a:solidFill>
                <a:latin typeface="Calibri"/>
              </a:rPr>
              <a:t>▼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84632" y="5559552"/>
            <a:ext cx="3200400" cy="109728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1480" y="5468112"/>
            <a:ext cx="32004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1480" y="5468112"/>
            <a:ext cx="3200400" cy="2560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4632" y="54864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🌿 SPARK!  ·  Wild Animals — Spread 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2920" y="5760720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695C"/>
                </a:solidFill>
                <a:latin typeface="Calibri"/>
              </a:rPr>
              <a:t>Look! What animals can you see?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6007608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C4148"/>
                </a:solidFill>
                <a:latin typeface="Calibri"/>
              </a:rPr>
              <a:t>1.  Listen and point.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2920" y="6254496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C4148"/>
                </a:solidFill>
                <a:latin typeface="Calibri"/>
              </a:rPr>
              <a:t>🦁 lion   🐘 elephant   🦒 giraffe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0" y="5559552"/>
            <a:ext cx="3200400" cy="109728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98848" y="5468112"/>
            <a:ext cx="32004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498848" y="5468112"/>
            <a:ext cx="3200400" cy="2560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0" y="54864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🌿 SPARK!  ·  Wild Animals — Spread 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90288" y="5760720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695C"/>
                </a:solidFill>
                <a:latin typeface="Calibri"/>
              </a:rPr>
              <a:t>It's a ___. / It has ___.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90288" y="6007608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C4148"/>
                </a:solidFill>
                <a:latin typeface="Calibri"/>
              </a:rPr>
              <a:t>2.  Fill in the blanks.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90288" y="6254496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C4148"/>
                </a:solidFill>
                <a:latin typeface="Calibri"/>
              </a:rPr>
              <a:t>🦜 parrot  🐸 frog  🦈 shark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668512" y="5559552"/>
            <a:ext cx="3200400" cy="109728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95360" y="5468112"/>
            <a:ext cx="32004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595360" y="5468112"/>
            <a:ext cx="3200400" cy="2560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68512" y="54864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🌿 SPARK!  ·  Wild Animals — Spread 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0" y="5760720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695C"/>
                </a:solidFill>
                <a:latin typeface="Calibri"/>
              </a:rPr>
              <a:t>/æ/  cat · hat · bat · rat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86800" y="6007608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C4148"/>
                </a:solidFill>
                <a:latin typeface="Calibri"/>
              </a:rPr>
              <a:t>🎵  Say the sounds!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6800" y="6254496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46400"/>
                </a:solidFill>
                <a:latin typeface="Calibri"/>
              </a:rPr>
              <a:t>"We respect all living things."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FA5"/>
                </a:solidFill>
                <a:latin typeface="Calibri"/>
              </a:rPr>
              <a:t>SOURCE:  spark-lesson-wild-animals.html  →  spark-wild-animals.json  →  classroom.html  ·  app.html  ·  worksheet.html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FA5"/>
                </a:solidFill>
                <a:latin typeface="Calibri"/>
              </a:rPr>
              <a:t>THE SAME FILE · THE SAME ENGINES · ANY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54864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566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🖥  CLASSROOM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54864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0248" y="566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📱  STUDENT PRACTICE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548640"/>
            <a:ext cx="3657600" cy="347472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5669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🖨  WORKSHEET 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1097280"/>
            <a:ext cx="256032" cy="13258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" y="128016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Spark! · Wild Animals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097280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FA5"/>
                </a:solidFill>
                <a:latin typeface="Calibri"/>
              </a:rPr>
              <a:t>Spark! · Wild Animals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Vocab cards · Grammar box · Activities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29967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048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FA5"/>
                </a:solidFill>
                <a:latin typeface="Calibri"/>
              </a:rPr>
              <a:t>⚙  classroom.html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1097280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120700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FA5"/>
                </a:solidFill>
                <a:latin typeface="Calibri"/>
              </a:rPr>
              <a:t>Spark! · Wild Animals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Interactive Q&amp;A · Scoring ·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2029967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2048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6D00"/>
                </a:solidFill>
                <a:latin typeface="Calibri"/>
              </a:rPr>
              <a:t>⚙  app.html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097280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207007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FA5"/>
                </a:solidFill>
                <a:latin typeface="Calibri"/>
              </a:rPr>
              <a:t>Spark! · Wild Animals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Fill-blank · True/False · Matching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29967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0482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565C0"/>
                </a:solidFill>
                <a:latin typeface="Calibri"/>
              </a:rPr>
              <a:t>⚙  worksheet.html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" y="2670048"/>
            <a:ext cx="256032" cy="1325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" y="2852928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Horizon · The Happiness Paradox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2670048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77977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Horizon · The Happiness Paradox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172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Reading + Comprehension · Grammar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602736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210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FA5"/>
                </a:solidFill>
                <a:latin typeface="Calibri"/>
              </a:rPr>
              <a:t>⚙  classroom.html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2670048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8848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1768" y="277977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Horizon · The Happiness Paradox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3172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Ranking · Speaking · Self-study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98848" y="3602736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568" y="36210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6D00"/>
                </a:solidFill>
                <a:latin typeface="Calibri"/>
              </a:rPr>
              <a:t>⚙  app.html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2670048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277977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Horizon · The Happiness Paradox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3172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Open-ended · Critical thinking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602736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36210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565C0"/>
                </a:solidFill>
                <a:latin typeface="Calibri"/>
              </a:rPr>
              <a:t>⚙  worksheet.html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" y="4242816"/>
            <a:ext cx="256032" cy="1325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" y="4425696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Real Life English · Staying Healthy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4242816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33425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35254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Calibri"/>
              </a:rPr>
              <a:t>Real Life English · Staying Healthy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Dialogue · Grammar · Document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175504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193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FA5"/>
                </a:solidFill>
                <a:latin typeface="Calibri"/>
              </a:rPr>
              <a:t>⚙  classroom.html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07408" y="4242816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98848" y="433425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01768" y="435254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Calibri"/>
              </a:rPr>
              <a:t>Real Life English · Staying Healthy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8848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Fill-blank · Role-play · Writing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98848" y="5175504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44568" y="5193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6D00"/>
                </a:solidFill>
                <a:latin typeface="Calibri"/>
              </a:rPr>
              <a:t>⚙  app.html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03920" y="4242816"/>
            <a:ext cx="3383280" cy="1325880"/>
          </a:xfrm>
          <a:prstGeom prst="roundRect">
            <a:avLst>
              <a:gd name="adj" fmla="val 3000"/>
            </a:avLst>
          </a:prstGeom>
          <a:solidFill>
            <a:srgbClr val="071426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0" y="433425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8280" y="435254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Calibri"/>
              </a:rPr>
              <a:t>Real Life English · Staying Healthy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2BE"/>
                </a:solidFill>
                <a:latin typeface="Calibri"/>
              </a:rPr>
              <a:t>Should/Shouldn't · Prescription label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5175504"/>
            <a:ext cx="3200400" cy="256032"/>
          </a:xfrm>
          <a:prstGeom prst="rect">
            <a:avLst/>
          </a:prstGeom>
          <a:solidFill>
            <a:srgbClr val="00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41080" y="5193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565C0"/>
                </a:solidFill>
                <a:latin typeface="Calibri"/>
              </a:rPr>
              <a:t>⚙  worksheet.html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728" y="6035040"/>
            <a:ext cx="11960352" cy="658368"/>
          </a:xfrm>
          <a:prstGeom prst="roundRect">
            <a:avLst>
              <a:gd name="adj" fmla="val 4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2880" y="6071616"/>
            <a:ext cx="11795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45"/>
                </a:solidFill>
                <a:latin typeface="Calibri"/>
              </a:rPr>
              <a:t>3 courses × 3 engines = 9 products  —  maintained as 6 components.  Add a 4th course: instantly get 3 more products with zero new renderer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