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 Light"/>
              </a:rPr>
              <a:t>FROM PAGE TO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84C"/>
                </a:solidFill>
                <a:latin typeface="Calibri Light"/>
              </a:rPr>
              <a:t>How structured content transforms ELT publishing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5760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0B0C0"/>
                </a:solidFill>
                <a:latin typeface="Calibri"/>
              </a:rPr>
              <a:t>THE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7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CONTENT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  <a:latin typeface="Calibri Light"/>
              </a:rPr>
              <a:t>One source. Any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468880" cy="13716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51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
HTML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05840"/>
            <a:ext cx="246888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051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{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600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STRUCTURED
JSON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005840"/>
            <a:ext cx="246888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051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RENDERING
ENGINES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005840"/>
            <a:ext cx="246888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051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600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8064" y="1581912"/>
            <a:ext cx="411480" cy="164592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3784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B0C0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24144" y="1581912"/>
            <a:ext cx="411480" cy="164592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9864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B0C0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0224" y="1581912"/>
            <a:ext cx="411480" cy="164592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5944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B0C0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88920"/>
            <a:ext cx="2468880" cy="1051560"/>
          </a:xfrm>
          <a:prstGeom prst="rect">
            <a:avLst/>
          </a:prstGeom>
          <a:solidFill>
            <a:srgbClr val="00BFA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834639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spark-lesson-
wild-animals.html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23360"/>
            <a:ext cx="2468880" cy="1051560"/>
          </a:xfrm>
          <a:prstGeom prst="rect">
            <a:avLst/>
          </a:prstGeom>
          <a:solidFill>
            <a:srgbClr val="00968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06908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horizon-lesson-
happiness.html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57800"/>
            <a:ext cx="2468880" cy="1051560"/>
          </a:xfrm>
          <a:prstGeom prst="rect">
            <a:avLst/>
          </a:prstGeom>
          <a:solidFill>
            <a:srgbClr val="26A69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3035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real-life-english-
lesson-health.html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788920"/>
            <a:ext cx="2468880" cy="1051560"/>
          </a:xfrm>
          <a:prstGeom prst="rect">
            <a:avLst/>
          </a:prstGeom>
          <a:solidFill>
            <a:srgbClr val="1A1A1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2834639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Calibri"/>
              </a:rPr>
              <a:t>spark-wild-
animals.json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4023360"/>
            <a:ext cx="2468880" cy="1051560"/>
          </a:xfrm>
          <a:prstGeom prst="rect">
            <a:avLst/>
          </a:prstGeom>
          <a:solidFill>
            <a:srgbClr val="1A1A1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406908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Calibri"/>
              </a:rPr>
              <a:t>horizon-
happiness.json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5257800"/>
            <a:ext cx="2468880" cy="1051560"/>
          </a:xfrm>
          <a:prstGeom prst="rect">
            <a:avLst/>
          </a:prstGeom>
          <a:solidFill>
            <a:srgbClr val="1A1A1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46120" y="53035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Calibri"/>
              </a:rPr>
              <a:t>real-life-english-
health.json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788920"/>
            <a:ext cx="2468880" cy="10515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834639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classroom.html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023360"/>
            <a:ext cx="2468880" cy="10515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06908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app.html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5257800"/>
            <a:ext cx="2468880" cy="10515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53035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worksheet.html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2788920"/>
            <a:ext cx="2651760" cy="1051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2834639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Classroom
Presentation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4023360"/>
            <a:ext cx="2651760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406908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Student
Self-Study App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98280" y="5257800"/>
            <a:ext cx="2651760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530352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Printable
Worksheet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88920" y="3282696"/>
            <a:ext cx="457200" cy="54864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15000" y="3282696"/>
            <a:ext cx="457200" cy="54864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41080" y="3282696"/>
            <a:ext cx="457200" cy="54864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88920" y="4517136"/>
            <a:ext cx="457200" cy="54864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5000" y="4517136"/>
            <a:ext cx="457200" cy="54864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641080" y="4517136"/>
            <a:ext cx="457200" cy="54864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88920" y="5751576"/>
            <a:ext cx="457200" cy="54864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15000" y="5751576"/>
            <a:ext cx="457200" cy="54864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41080" y="5751576"/>
            <a:ext cx="457200" cy="54864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5943600"/>
            <a:ext cx="11640312" cy="640080"/>
          </a:xfrm>
          <a:prstGeom prst="rect">
            <a:avLst/>
          </a:prstGeom>
          <a:solidFill>
            <a:srgbClr val="071A2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596188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Calibri"/>
              </a:rPr>
              <a:t>3 source files  ×  3 rendering engines  =  9 distinct products  —  built and maintained as 6 components, not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7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SCALE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  <a:latin typeface="Calibri Light"/>
              </a:rPr>
              <a:t>Old way vs.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120640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TRADITIONAL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120640" cy="4572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4892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✗  Create Spark classroom slides (manually)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84248"/>
            <a:ext cx="5120640" cy="45720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02536"/>
            <a:ext cx="4892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✗  Create Spark student workbook (manually)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59736"/>
            <a:ext cx="5120640" cy="4572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78024"/>
            <a:ext cx="4892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✗  Create Spark printable worksheets (manually)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35224"/>
            <a:ext cx="5120640" cy="45720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53512"/>
            <a:ext cx="4892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✗  Create Horizon classroom slides (manually)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10712"/>
            <a:ext cx="5120640" cy="4572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4892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✗  Create Horizon student workbook (manually)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86200"/>
            <a:ext cx="5120640" cy="45720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04487"/>
            <a:ext cx="4892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✗  Create Horizon printable worksheets (manually)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61688"/>
            <a:ext cx="5120640" cy="4572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79976"/>
            <a:ext cx="4892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✗  Create RLE classroom slides (manually)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37176"/>
            <a:ext cx="5120640" cy="45720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55464"/>
            <a:ext cx="4892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✗  Create RLE student workbook (manually)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12664"/>
            <a:ext cx="5120640" cy="4572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330952"/>
            <a:ext cx="4892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✗  Create RLE printable worksheets (manually)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806440"/>
            <a:ext cx="5120640" cy="5029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8247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 DOCUMENTS  ·  9× the work to update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005840"/>
            <a:ext cx="5422392" cy="45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024128"/>
            <a:ext cx="5422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508760"/>
            <a:ext cx="2606040" cy="53035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52704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 JSON DATA FILES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103120"/>
            <a:ext cx="2606040" cy="5303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12140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spark-wild-animals.json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697480"/>
            <a:ext cx="2606040" cy="5303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71576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horizon-happiness.json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291840"/>
            <a:ext cx="2606040" cy="5303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331012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real-life-english-health.json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17152" y="1508760"/>
            <a:ext cx="2606040" cy="5303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152704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 RENDERING ENGINES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2103120"/>
            <a:ext cx="2606040" cy="5303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212140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classroom.html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17152" y="2697480"/>
            <a:ext cx="2606040" cy="5303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71576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app.html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17152" y="3291840"/>
            <a:ext cx="2606040" cy="5303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31012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worksheet.html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160520"/>
            <a:ext cx="542239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206240"/>
            <a:ext cx="5330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 PRODUCTS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663440"/>
            <a:ext cx="5330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  <a:latin typeface="Calibri"/>
              </a:rPr>
              <a:t>Update once → all outputs refresh automatically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806440"/>
            <a:ext cx="5422392" cy="5029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824728"/>
            <a:ext cx="5422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 COMPONENTS  ·  Update any one, all products benefit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0" y="1005840"/>
            <a:ext cx="457200" cy="5303520"/>
          </a:xfrm>
          <a:prstGeom prst="rect">
            <a:avLst/>
          </a:prstGeom>
          <a:solidFill>
            <a:srgbClr val="07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0" y="35204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